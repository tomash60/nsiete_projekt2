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78"/>
  </p:normalViewPr>
  <p:slideViewPr>
    <p:cSldViewPr snapToGrid="0">
      <p:cViewPr varScale="1">
        <p:scale>
          <a:sx n="138" d="100"/>
          <a:sy n="138" d="100"/>
        </p:scale>
        <p:origin x="17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81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87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9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5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6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21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1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0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0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775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135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26FA3A-82A1-C5A8-7A90-9D6A04899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1150" y="2445346"/>
            <a:ext cx="5200277" cy="1172408"/>
          </a:xfrm>
        </p:spPr>
        <p:txBody>
          <a:bodyPr anchor="b">
            <a:normAutofit/>
          </a:bodyPr>
          <a:lstStyle/>
          <a:p>
            <a:r>
              <a:rPr lang="en-US" sz="3200" dirty="0" err="1"/>
              <a:t>mixup</a:t>
            </a:r>
            <a:r>
              <a:rPr lang="en-US" sz="3200" dirty="0"/>
              <a:t>: BEYOND EMPIRICAL RISK MINIMIZATION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7A26C-7C05-CC70-9AAD-7641C8E61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1151" y="3775989"/>
            <a:ext cx="5200277" cy="826568"/>
          </a:xfrm>
        </p:spPr>
        <p:txBody>
          <a:bodyPr anchor="t">
            <a:normAutofit/>
          </a:bodyPr>
          <a:lstStyle/>
          <a:p>
            <a:r>
              <a:rPr lang="en-US" sz="1400" dirty="0"/>
              <a:t>Hongyi Zhang, Moustapha Cisse, Yann N. Dauphin, David Lopez-Paz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406EC-6A08-BD31-6E74-DFD703C8C7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86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DA64B0F7-BE9D-06A4-AF64-7D9C97B2E9FA}"/>
              </a:ext>
            </a:extLst>
          </p:cNvPr>
          <p:cNvSpPr txBox="1">
            <a:spLocks/>
          </p:cNvSpPr>
          <p:nvPr/>
        </p:nvSpPr>
        <p:spPr>
          <a:xfrm>
            <a:off x="7022008" y="6391609"/>
            <a:ext cx="5200277" cy="826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/>
              <a:t>Bc</a:t>
            </a:r>
            <a:r>
              <a:rPr lang="en-US" sz="1400" dirty="0"/>
              <a:t>. Tomáš Horička, BC. Juraj </a:t>
            </a:r>
            <a:r>
              <a:rPr lang="en-US" sz="1400" dirty="0" err="1"/>
              <a:t>Budinský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3132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DA39B-BC97-9BE2-E7C4-70603A7FC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02F934-A548-3F86-6CBD-E75901D9BA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9" y="2911792"/>
            <a:ext cx="1017778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Standard training with ERM learns only from the exact training samples.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large neural networks, this can lead to memorization instead of real generalization.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 trained this way can also behave unpredictably just outside the training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paper proposes a very simple fix: train on synthetic examples created between real samples.</a:t>
            </a:r>
          </a:p>
        </p:txBody>
      </p:sp>
    </p:spTree>
    <p:extLst>
      <p:ext uri="{BB962C8B-B14F-4D97-AF65-F5344CB8AC3E}">
        <p14:creationId xmlns:p14="http://schemas.microsoft.com/office/powerpoint/2010/main" val="251884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939D7-0E31-4B83-0D44-A8D5E212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idea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AE6A6D5-A240-24BB-550B-1D6910AA954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40079" y="2573324"/>
                <a:ext cx="8587607" cy="34832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FontTx/>
                  <a:buChar char="•"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Pick two training examples: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1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k-SK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dirty="0">
                        <a:latin typeface="Cambria Math" panose="02040503050406030204" pitchFamily="18" charset="0"/>
                      </a:rPr>
                      <m:t>​,</m:t>
                    </m:r>
                    <m:sSub>
                      <m:sSub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1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k-SK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1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k-SK" sz="18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dirty="0">
                        <a:latin typeface="Cambria Math" panose="02040503050406030204" pitchFamily="18" charset="0"/>
                      </a:rPr>
                      <m:t>​,</m:t>
                    </m:r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18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k-SK" sz="18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Create a new virtual input by interpolation: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None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			</a:t>
                </a:r>
                <a:r>
                  <a:rPr kumimoji="0" lang="en-US" alt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     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sk-SK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kumimoji="0" lang="en-US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800" i="1" dirty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alt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sSub>
                      <m:sSubPr>
                        <m:ctrlP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en-US" sz="1800" dirty="0">
                  <a:latin typeface="Arial" panose="020B0604020202020204" pitchFamily="34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None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Create the matching soft target: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None/>
                </a:pPr>
                <a:r>
                  <a:rPr lang="en-US" altLang="en-US" sz="1800" dirty="0">
                    <a:latin typeface="Arial" panose="020B0604020202020204" pitchFamily="34" charset="0"/>
                  </a:rPr>
                  <a:t>			     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800" i="1" dirty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Here,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∈[0,1]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is sampled from a Beta distribution.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1800" dirty="0">
                    <a:latin typeface="Arial" panose="020B0604020202020204" pitchFamily="34" charset="0"/>
                  </a:rPr>
                  <a:t> So,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the model is trained not only on real points, but also on points between them.</a:t>
                </a: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AE6A6D5-A240-24BB-550B-1D6910AA95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40079" y="2573324"/>
                <a:ext cx="8587607" cy="3483261"/>
              </a:xfrm>
              <a:prstGeom prst="rect">
                <a:avLst/>
              </a:prstGeom>
              <a:blipFill>
                <a:blip r:embed="rId2"/>
                <a:stretch>
                  <a:fillRect l="-443" b="-18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83B5C39-E50E-5528-FA5A-2995735A4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338" y="1425665"/>
            <a:ext cx="5733583" cy="20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19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D6597-FD1F-3215-998F-323EFD8CE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ECFE1D-8A0E-8F73-6286-82CC65ED79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536" y="1715229"/>
            <a:ext cx="10890928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encourages the model to behave more linearly between training examples.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acts as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regularizer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reduces sharp, unstable decision boundaries.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paper argues that smoother behavior between samples improves generalization.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toy example in Figure 1 and the analysis in Figure 2,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produces more stable predictions and smaller gradients between samples.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0000D5-0BE5-642E-7FEE-3E0A422F3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809" y="3675474"/>
            <a:ext cx="5964382" cy="263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94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AE41-7AC0-E9EE-0D1E-82A0092EE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is it practical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93302F-2092-B537-FC14-D4004B3DFD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9" y="2329379"/>
            <a:ext cx="876297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is extremely simple to implement.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adds only minimal computational overhead.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is data-agnostic: it does not require domain-specific augmentation rules.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practice, the paper even notes that mixing within a shuffled minibatch works well.</a:t>
            </a:r>
          </a:p>
        </p:txBody>
      </p:sp>
    </p:spTree>
    <p:extLst>
      <p:ext uri="{BB962C8B-B14F-4D97-AF65-F5344CB8AC3E}">
        <p14:creationId xmlns:p14="http://schemas.microsoft.com/office/powerpoint/2010/main" val="166589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A8D89-1714-F5B2-910C-0106A283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paper found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FF57F65-BD61-9999-E8E0-1E07D0E407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9" y="2091589"/>
            <a:ext cx="913916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image classification results on CIFAR-10, CIFAR-100, and ImageNet.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also improved performance on speech and tabular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reduced memorization when labels were corrupted.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increased robustness against adversarial examples.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paper also reports that it can help stabilize GAN training.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ABE34-B06E-8A13-137E-BFFBB65F9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43" y="3968207"/>
            <a:ext cx="5919314" cy="229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84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2098-06B4-D4D7-66F4-A0F5BF67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F76D1E-E133-C8B0-6E8E-2F8209468F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9" y="1802907"/>
            <a:ext cx="1092158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simple training principle: learn from interpolations of inputs and labels.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Its purpose is not just augmentation, but enforcing smoother behavior between samples.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leads to better generalization and more robust models.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main reason the paper is influential is that such a small change gives benefits across many settings.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709CD-CE72-3997-7726-9A0C0BDC3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343" y="3577766"/>
            <a:ext cx="7772400" cy="264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9791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423</Words>
  <Application>Microsoft Macintosh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 Math</vt:lpstr>
      <vt:lpstr>Grandview Display</vt:lpstr>
      <vt:lpstr>DashVTI</vt:lpstr>
      <vt:lpstr>mixup: BEYOND EMPIRICAL RISK MINIMIZATION</vt:lpstr>
      <vt:lpstr>Introduction</vt:lpstr>
      <vt:lpstr>Core idea</vt:lpstr>
      <vt:lpstr>Why it works</vt:lpstr>
      <vt:lpstr>Why is it practical</vt:lpstr>
      <vt:lpstr>What the paper found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Horička</dc:creator>
  <cp:lastModifiedBy>Tomáš Horička</cp:lastModifiedBy>
  <cp:revision>1</cp:revision>
  <dcterms:created xsi:type="dcterms:W3CDTF">2026-04-01T18:03:20Z</dcterms:created>
  <dcterms:modified xsi:type="dcterms:W3CDTF">2026-04-01T18:30:36Z</dcterms:modified>
</cp:coreProperties>
</file>